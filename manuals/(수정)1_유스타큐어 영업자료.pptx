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7"/>
  </p:notesMasterIdLst>
  <p:handoutMasterIdLst>
    <p:handoutMasterId r:id="rId8"/>
  </p:handoutMasterIdLst>
  <p:sldIdLst>
    <p:sldId id="381" r:id="rId3"/>
    <p:sldId id="380" r:id="rId4"/>
    <p:sldId id="378" r:id="rId5"/>
    <p:sldId id="347" r:id="rId6"/>
  </p:sldIdLst>
  <p:sldSz cx="9144000" cy="6858000" type="screen4x3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3938"/>
    <a:srgbClr val="F15822"/>
    <a:srgbClr val="ED7D31"/>
    <a:srgbClr val="F4B183"/>
    <a:srgbClr val="FFFFFF"/>
    <a:srgbClr val="216596"/>
    <a:srgbClr val="1C6091"/>
    <a:srgbClr val="1D1A15"/>
    <a:srgbClr val="262626"/>
    <a:srgbClr val="E979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3031" autoAdjust="0"/>
  </p:normalViewPr>
  <p:slideViewPr>
    <p:cSldViewPr snapToGrid="0">
      <p:cViewPr varScale="1">
        <p:scale>
          <a:sx n="104" d="100"/>
          <a:sy n="104" d="100"/>
        </p:scale>
        <p:origin x="17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2" d="100"/>
          <a:sy n="112" d="100"/>
        </p:scale>
        <p:origin x="241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41458"/>
          </a:xfrm>
          <a:prstGeom prst="rect">
            <a:avLst/>
          </a:prstGeom>
        </p:spPr>
        <p:txBody>
          <a:bodyPr vert="horz" lIns="91429" tIns="45714" rIns="91429" bIns="4571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3372" y="0"/>
            <a:ext cx="4301543" cy="341458"/>
          </a:xfrm>
          <a:prstGeom prst="rect">
            <a:avLst/>
          </a:prstGeom>
        </p:spPr>
        <p:txBody>
          <a:bodyPr vert="horz" lIns="91429" tIns="45714" rIns="91429" bIns="45714" rtlCol="0"/>
          <a:lstStyle>
            <a:lvl1pPr algn="r">
              <a:defRPr sz="1200"/>
            </a:lvl1pPr>
          </a:lstStyle>
          <a:p>
            <a:fld id="{F530FA5F-4265-4A0D-BEF5-533DEE9A3B12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220"/>
            <a:ext cx="4301543" cy="341457"/>
          </a:xfrm>
          <a:prstGeom prst="rect">
            <a:avLst/>
          </a:prstGeom>
        </p:spPr>
        <p:txBody>
          <a:bodyPr vert="horz" lIns="91429" tIns="45714" rIns="91429" bIns="4571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3372" y="6456220"/>
            <a:ext cx="4301543" cy="341457"/>
          </a:xfrm>
          <a:prstGeom prst="rect">
            <a:avLst/>
          </a:prstGeom>
        </p:spPr>
        <p:txBody>
          <a:bodyPr vert="horz" lIns="91429" tIns="45714" rIns="91429" bIns="45714" rtlCol="0" anchor="b"/>
          <a:lstStyle>
            <a:lvl1pPr algn="r">
              <a:defRPr sz="1200"/>
            </a:lvl1pPr>
          </a:lstStyle>
          <a:p>
            <a:fld id="{14D3C2B5-AAD1-43FF-B5F4-139534902E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4312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0" y="1"/>
            <a:ext cx="9926638" cy="6797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" y="2"/>
            <a:ext cx="637244" cy="11798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294208" y="-1"/>
            <a:ext cx="4632431" cy="3960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11964" y="101444"/>
            <a:ext cx="9669454" cy="65859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3271382"/>
            <a:ext cx="7941310" cy="2676585"/>
          </a:xfrm>
          <a:prstGeom prst="rect">
            <a:avLst/>
          </a:prstGeom>
        </p:spPr>
        <p:txBody>
          <a:bodyPr vert="horz" lIns="91429" tIns="45714" rIns="91429" bIns="45714" rtlCol="0"/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294208" y="6230964"/>
            <a:ext cx="4301543" cy="341063"/>
          </a:xfrm>
          <a:prstGeom prst="rect">
            <a:avLst/>
          </a:prstGeom>
        </p:spPr>
        <p:txBody>
          <a:bodyPr vert="horz" lIns="91429" tIns="45714" rIns="91429" bIns="45714" rtlCol="0" anchor="b"/>
          <a:lstStyle>
            <a:lvl1pPr algn="r">
              <a:defRPr sz="12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altLang="ko-KR" dirty="0" smtClean="0">
                <a:solidFill>
                  <a:srgbClr val="595757"/>
                </a:solidFill>
              </a:rPr>
              <a:t>WE DO YOU </a:t>
            </a:r>
            <a:r>
              <a:rPr lang="en-US" altLang="ko-KR" dirty="0" smtClean="0">
                <a:solidFill>
                  <a:schemeClr val="accent2"/>
                </a:solidFill>
              </a:rPr>
              <a:t>ENT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7789" y="101445"/>
            <a:ext cx="1013845" cy="60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48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122363"/>
            <a:ext cx="7772400" cy="1364648"/>
          </a:xfrm>
        </p:spPr>
        <p:txBody>
          <a:bodyPr anchor="b">
            <a:normAutofit/>
          </a:bodyPr>
          <a:lstStyle>
            <a:lvl1pPr algn="l">
              <a:defRPr sz="4000" b="1"/>
            </a:lvl1pPr>
          </a:lstStyle>
          <a:p>
            <a:r>
              <a:rPr lang="ko-KR" altLang="en-US" dirty="0" smtClean="0"/>
              <a:t>마스터 제목 스타일 편집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타이틀 내용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885346"/>
            <a:ext cx="6858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smtClean="0"/>
              <a:t>클릭하여 마스터 부제목 스타일 편집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㈜</a:t>
            </a:r>
            <a:r>
              <a:rPr lang="ko-KR" altLang="en-US" dirty="0" err="1" smtClean="0"/>
              <a:t>메가메디칼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222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z="4000" b="1" dirty="0" smtClean="0">
                <a:solidFill>
                  <a:srgbClr val="ED7D3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</a:t>
            </a:r>
            <a:r>
              <a:rPr lang="ko-KR" altLang="en-US" sz="4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스터 제목 스타일 편지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9F6B-3C65-4663-B062-713E17D33A3C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F58A7-BE6B-4156-8775-6E98E6079E3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모서리가 둥근 직사각형 8"/>
          <p:cNvSpPr/>
          <p:nvPr userDrawn="1"/>
        </p:nvSpPr>
        <p:spPr>
          <a:xfrm>
            <a:off x="628650" y="1271475"/>
            <a:ext cx="2380428" cy="46445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D7D31"/>
              </a:gs>
              <a:gs pos="100000">
                <a:srgbClr val="CA5B1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3" hasCustomPrompt="1"/>
          </p:nvPr>
        </p:nvSpPr>
        <p:spPr>
          <a:xfrm>
            <a:off x="983045" y="1327490"/>
            <a:ext cx="1671637" cy="352425"/>
          </a:xfrm>
        </p:spPr>
        <p:txBody>
          <a:bodyPr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 smtClean="0"/>
              <a:t>SUBTITLE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4900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9F6B-3C65-4663-B062-713E17D33A3C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F58A7-BE6B-4156-8775-6E98E6079E3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365127"/>
            <a:ext cx="7886700" cy="656366"/>
          </a:xfrm>
        </p:spPr>
        <p:txBody>
          <a:bodyPr/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z="4000" b="1" dirty="0" smtClean="0">
                <a:solidFill>
                  <a:srgbClr val="ED7D3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</a:t>
            </a:r>
            <a:r>
              <a:rPr lang="ko-KR" altLang="en-US" sz="4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스터 제목 스타일 편지</a:t>
            </a:r>
            <a:endParaRPr lang="en-US" dirty="0"/>
          </a:p>
        </p:txBody>
      </p:sp>
      <p:sp>
        <p:nvSpPr>
          <p:cNvPr id="12" name="모서리가 둥근 직사각형 11"/>
          <p:cNvSpPr/>
          <p:nvPr userDrawn="1"/>
        </p:nvSpPr>
        <p:spPr>
          <a:xfrm>
            <a:off x="628650" y="1271475"/>
            <a:ext cx="2380428" cy="46445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D7D31"/>
              </a:gs>
              <a:gs pos="100000">
                <a:srgbClr val="CA5B1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3" hasCustomPrompt="1"/>
          </p:nvPr>
        </p:nvSpPr>
        <p:spPr>
          <a:xfrm>
            <a:off x="983045" y="1327490"/>
            <a:ext cx="1671637" cy="352425"/>
          </a:xfrm>
        </p:spPr>
        <p:txBody>
          <a:bodyPr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 smtClean="0"/>
              <a:t>SUBTITLE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4797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788257"/>
            <a:ext cx="3868340" cy="54305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612169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788257"/>
            <a:ext cx="3887391" cy="54305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612169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9F6B-3C65-4663-B062-713E17D33A3C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F58A7-BE6B-4156-8775-6E98E6079E3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365127"/>
            <a:ext cx="7886700" cy="656366"/>
          </a:xfrm>
        </p:spPr>
        <p:txBody>
          <a:bodyPr/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z="4000" b="1" dirty="0" smtClean="0">
                <a:solidFill>
                  <a:srgbClr val="ED7D3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</a:t>
            </a:r>
            <a:r>
              <a:rPr lang="ko-KR" altLang="en-US" sz="4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스터 제목 스타일 편지</a:t>
            </a:r>
            <a:endParaRPr lang="en-US" dirty="0"/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628650" y="1271475"/>
            <a:ext cx="2380428" cy="46445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D7D31"/>
              </a:gs>
              <a:gs pos="100000">
                <a:srgbClr val="CA5B1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텍스트 개체 틀 10"/>
          <p:cNvSpPr>
            <a:spLocks noGrp="1"/>
          </p:cNvSpPr>
          <p:nvPr>
            <p:ph type="body" sz="quarter" idx="13" hasCustomPrompt="1"/>
          </p:nvPr>
        </p:nvSpPr>
        <p:spPr>
          <a:xfrm>
            <a:off x="983045" y="1327490"/>
            <a:ext cx="1671637" cy="352425"/>
          </a:xfrm>
        </p:spPr>
        <p:txBody>
          <a:bodyPr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 smtClean="0"/>
              <a:t>SUBTITLE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848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9F6B-3C65-4663-B062-713E17D33A3C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F58A7-BE6B-4156-8775-6E98E6079E3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365127"/>
            <a:ext cx="7886700" cy="656366"/>
          </a:xfrm>
        </p:spPr>
        <p:txBody>
          <a:bodyPr/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z="4000" b="1" dirty="0" smtClean="0">
                <a:solidFill>
                  <a:srgbClr val="ED7D3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</a:t>
            </a:r>
            <a:r>
              <a:rPr lang="ko-KR" altLang="en-US" sz="4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스터 제목 스타일 편지</a:t>
            </a:r>
            <a:endParaRPr lang="en-US" dirty="0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555774" y="1834078"/>
            <a:ext cx="8135598" cy="2995249"/>
          </a:xfrm>
          <a:prstGeom prst="roundRect">
            <a:avLst>
              <a:gd name="adj" fmla="val 501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54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745244" y="1965174"/>
            <a:ext cx="7770106" cy="2733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solidFill>
                  <a:schemeClr val="tx1"/>
                </a:solidFill>
                <a:latin typeface="+mn-ea"/>
              </a:rPr>
              <a:t>마스터 텍스트 스타일 편집</a:t>
            </a:r>
            <a:endParaRPr lang="en-US" altLang="ko-KR" sz="1600" b="1" dirty="0" smtClean="0">
              <a:solidFill>
                <a:schemeClr val="tx1"/>
              </a:solidFill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smtClean="0">
                <a:solidFill>
                  <a:schemeClr val="tx1"/>
                </a:solidFill>
                <a:latin typeface="+mn-ea"/>
              </a:rPr>
              <a:t>두번째 텍스트 스타일 편집</a:t>
            </a:r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400" b="1" dirty="0" smtClean="0">
                <a:solidFill>
                  <a:schemeClr val="tx1"/>
                </a:solidFill>
                <a:latin typeface="+mn-ea"/>
              </a:rPr>
            </a:br>
            <a:endParaRPr lang="en-US" altLang="ko-KR" sz="1400" b="1" dirty="0" smtClean="0">
              <a:solidFill>
                <a:schemeClr val="tx1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solidFill>
                  <a:schemeClr val="tx1"/>
                </a:solidFill>
                <a:latin typeface="+mn-ea"/>
              </a:rPr>
              <a:t>마스터 텍스트 스타일 편집</a:t>
            </a:r>
            <a:endParaRPr lang="en-US" altLang="ko-KR" sz="1600" b="1" dirty="0" smtClean="0">
              <a:solidFill>
                <a:schemeClr val="tx1"/>
              </a:solidFill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smtClean="0">
                <a:solidFill>
                  <a:schemeClr val="tx1"/>
                </a:solidFill>
                <a:latin typeface="+mn-ea"/>
              </a:rPr>
              <a:t>두번째 텍스트 스타일 편집</a:t>
            </a:r>
            <a:endParaRPr lang="en-US" altLang="ko-KR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ko-KR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smtClean="0">
                <a:solidFill>
                  <a:schemeClr val="tx1"/>
                </a:solidFill>
                <a:latin typeface="+mn-ea"/>
              </a:rPr>
              <a:t>마스터 텍스트 스타일 편집</a:t>
            </a:r>
            <a:endParaRPr lang="en-US" altLang="ko-KR" sz="1600" b="1" dirty="0" smtClean="0">
              <a:solidFill>
                <a:schemeClr val="tx1"/>
              </a:solidFill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smtClean="0">
                <a:solidFill>
                  <a:schemeClr val="tx1"/>
                </a:solidFill>
                <a:latin typeface="+mn-ea"/>
              </a:rPr>
              <a:t>두번째 텍스트 스타일 편집</a:t>
            </a:r>
            <a:endParaRPr lang="en-US" altLang="ko-KR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ko-KR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628650" y="1271475"/>
            <a:ext cx="2380428" cy="46445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D7D31"/>
              </a:gs>
              <a:gs pos="100000">
                <a:srgbClr val="CA5B1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 hasCustomPrompt="1"/>
          </p:nvPr>
        </p:nvSpPr>
        <p:spPr>
          <a:xfrm>
            <a:off x="983045" y="1327490"/>
            <a:ext cx="1671637" cy="352425"/>
          </a:xfrm>
        </p:spPr>
        <p:txBody>
          <a:bodyPr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 smtClean="0"/>
              <a:t>SUBTITLE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1923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9F6B-3C65-4663-B062-713E17D33A3C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F58A7-BE6B-4156-8775-6E98E6079E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388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9F6B-3C65-4663-B062-713E17D33A3C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F58A7-BE6B-4156-8775-6E98E6079E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2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9F6B-3C65-4663-B062-713E17D33A3C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F58A7-BE6B-4156-8775-6E98E6079E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348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9F6B-3C65-4663-B062-713E17D33A3C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F58A7-BE6B-4156-8775-6E98E6079E3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365127"/>
            <a:ext cx="7886700" cy="656366"/>
          </a:xfrm>
        </p:spPr>
        <p:txBody>
          <a:bodyPr/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z="4000" b="1" dirty="0" smtClean="0">
                <a:solidFill>
                  <a:srgbClr val="ED7D3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</a:t>
            </a:r>
            <a:r>
              <a:rPr lang="ko-KR" altLang="en-US" sz="4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스터 제목 스타일 편지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124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9F6B-3C65-4663-B062-713E17D33A3C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F58A7-BE6B-4156-8775-6E98E6079E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307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C026E-C0B6-4495-A98B-CAEE3B8D18D5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6199B-9382-493E-8D27-8495E554CE3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366406" y="-149628"/>
            <a:ext cx="9326880" cy="7007629"/>
          </a:xfrm>
          <a:prstGeom prst="rect">
            <a:avLst/>
          </a:prstGeom>
          <a:solidFill>
            <a:srgbClr val="EB6C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모서리가 둥근 직사각형 7"/>
          <p:cNvSpPr/>
          <p:nvPr userDrawn="1"/>
        </p:nvSpPr>
        <p:spPr>
          <a:xfrm rot="961342">
            <a:off x="-4358214" y="58746"/>
            <a:ext cx="9413519" cy="7584147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 userDrawn="1"/>
        </p:nvSpPr>
        <p:spPr>
          <a:xfrm rot="961342">
            <a:off x="7193043" y="-1877965"/>
            <a:ext cx="9413519" cy="7584147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016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C026E-C0B6-4495-A98B-CAEE3B8D18D5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6199B-9382-493E-8D27-8495E554C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745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C026E-C0B6-4495-A98B-CAEE3B8D18D5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6199B-9382-493E-8D27-8495E554C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3857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C026E-C0B6-4495-A98B-CAEE3B8D18D5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6199B-9382-493E-8D27-8495E554C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795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C026E-C0B6-4495-A98B-CAEE3B8D18D5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6199B-9382-493E-8D27-8495E554C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817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C026E-C0B6-4495-A98B-CAEE3B8D18D5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6199B-9382-493E-8D27-8495E554C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5935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C026E-C0B6-4495-A98B-CAEE3B8D18D5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6199B-9382-493E-8D27-8495E554C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6386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C026E-C0B6-4495-A98B-CAEE3B8D18D5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6199B-9382-493E-8D27-8495E554C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3104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C026E-C0B6-4495-A98B-CAEE3B8D18D5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6199B-9382-493E-8D27-8495E554C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2458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C026E-C0B6-4495-A98B-CAEE3B8D18D5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6199B-9382-493E-8D27-8495E554C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342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C026E-C0B6-4495-A98B-CAEE3B8D18D5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6199B-9382-493E-8D27-8495E554C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104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0"/>
            <a:ext cx="587002" cy="11903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16" name="직사각형 15"/>
          <p:cNvSpPr/>
          <p:nvPr userDrawn="1"/>
        </p:nvSpPr>
        <p:spPr>
          <a:xfrm>
            <a:off x="4876800" y="-1"/>
            <a:ext cx="4267200" cy="39953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17" name="직사각형 16"/>
          <p:cNvSpPr/>
          <p:nvPr userDrawn="1"/>
        </p:nvSpPr>
        <p:spPr>
          <a:xfrm>
            <a:off x="118453" y="77032"/>
            <a:ext cx="8907093" cy="66444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19" name="슬라이드 번호 개체 틀 6"/>
          <p:cNvSpPr txBox="1">
            <a:spLocks/>
          </p:cNvSpPr>
          <p:nvPr userDrawn="1"/>
        </p:nvSpPr>
        <p:spPr>
          <a:xfrm>
            <a:off x="4876800" y="628626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ko-KR"/>
            </a:defPPr>
            <a:lvl1pPr marL="0" algn="r" defTabSz="914400" rtl="0" eaLnBrk="1" latinLnBrk="1" hangingPunct="1">
              <a:defRPr sz="1200" b="1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solidFill>
                  <a:srgbClr val="595757"/>
                </a:solidFill>
                <a:latin typeface="맑은 고딕" panose="020B0503020000020004" pitchFamily="50" charset="-127"/>
              </a:rPr>
              <a:t>We Do Your </a:t>
            </a:r>
            <a:r>
              <a:rPr lang="en-US" altLang="ko-KR" dirty="0" smtClean="0">
                <a:solidFill>
                  <a:schemeClr val="accent2"/>
                </a:solidFill>
                <a:latin typeface="맑은 고딕" panose="020B0503020000020004" pitchFamily="50" charset="-127"/>
              </a:rPr>
              <a:t>ENT</a:t>
            </a:r>
            <a:endParaRPr lang="ko-KR" altLang="en-US" dirty="0">
              <a:solidFill>
                <a:schemeClr val="accent2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0" name="그림 19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977" y="102344"/>
            <a:ext cx="933911" cy="6107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563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sz="4400" b="1" dirty="0" smtClean="0">
                <a:solidFill>
                  <a:srgbClr val="ED7D3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</a:t>
            </a:r>
            <a:r>
              <a:rPr lang="ko-KR" altLang="en-US" sz="44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스터 제목 스타일 편지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56599F6B-3C65-4663-B062-713E17D33A3C}" type="datetimeFigureOut">
              <a:rPr lang="ko-KR" altLang="en-US" smtClean="0"/>
              <a:pPr/>
              <a:t>2023-09-07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60DF58A7-BE6B-4156-8775-6E98E6079E3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758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marL="0" marR="0" indent="0" algn="l" defTabSz="914400" rtl="0" eaLnBrk="1" fontAlgn="auto" latinLnBrk="1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4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C026E-C0B6-4495-A98B-CAEE3B8D18D5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6199B-9382-493E-8D27-8495E554C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54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6639" y="1889296"/>
            <a:ext cx="7005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latin typeface="+mn-ea"/>
              </a:rPr>
              <a:t>EUSTACURE</a:t>
            </a:r>
            <a:r>
              <a:rPr lang="en-US" altLang="ko-KR" sz="3200" b="1" smtClean="0">
                <a:latin typeface="+mn-ea"/>
              </a:rPr>
              <a:t/>
            </a:r>
            <a:br>
              <a:rPr lang="en-US" altLang="ko-KR" sz="3200" b="1" smtClean="0">
                <a:latin typeface="+mn-ea"/>
              </a:rPr>
            </a:br>
            <a:r>
              <a:rPr lang="ko-KR" altLang="en-US" sz="3200" b="1" dirty="0" err="1" smtClean="0">
                <a:latin typeface="+mn-ea"/>
              </a:rPr>
              <a:t>유스타큐어</a:t>
            </a:r>
            <a:endParaRPr lang="en-US" altLang="ko-KR" sz="3200" b="1" dirty="0" smtClean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857" y="2856439"/>
            <a:ext cx="3410426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6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/>
          <p:cNvSpPr txBox="1">
            <a:spLocks/>
          </p:cNvSpPr>
          <p:nvPr/>
        </p:nvSpPr>
        <p:spPr>
          <a:xfrm>
            <a:off x="628650" y="365127"/>
            <a:ext cx="7886700" cy="6563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rgbClr val="ED7D31"/>
                </a:solidFill>
              </a:rPr>
              <a:t>01. </a:t>
            </a:r>
            <a:r>
              <a:rPr lang="ko-KR" altLang="en-US" sz="3200" dirty="0" smtClean="0"/>
              <a:t>제품설명</a:t>
            </a:r>
            <a:endParaRPr lang="ko-KR" altLang="en-US" sz="3200" dirty="0"/>
          </a:p>
        </p:txBody>
      </p:sp>
      <p:sp>
        <p:nvSpPr>
          <p:cNvPr id="11" name="직사각형 10"/>
          <p:cNvSpPr/>
          <p:nvPr/>
        </p:nvSpPr>
        <p:spPr>
          <a:xfrm>
            <a:off x="3312260" y="2401146"/>
            <a:ext cx="4911112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제품명</a:t>
            </a: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1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유스타큐어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품목명</a:t>
            </a: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이학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진료용 기구</a:t>
            </a:r>
            <a:endParaRPr lang="en-US" altLang="ko-KR" sz="1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용도</a:t>
            </a: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환자의 비강에 일정한 공기를 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전달하여</a:t>
            </a: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/>
            </a:r>
            <a:b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</a:b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     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귀속 </a:t>
            </a:r>
            <a:r>
              <a:rPr lang="ko-KR" altLang="en-US" sz="1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중이의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ko-KR" alt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음압을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완화시키는 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장비</a:t>
            </a:r>
            <a:endParaRPr lang="en-US" altLang="ko-KR" sz="1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규격</a:t>
            </a: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5.7cm x 11cm x 2.5cm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사용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압력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4.5 ~ 5.5 </a:t>
            </a: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psi</a:t>
            </a:r>
            <a:endParaRPr lang="en-US" altLang="ko-KR" sz="1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플로우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유량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 : 1.0 ~ 2.5 L/min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12260" y="1079900"/>
            <a:ext cx="5493613" cy="1293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smtClean="0"/>
              <a:t>유스타큐어를 사용해 </a:t>
            </a:r>
            <a:r>
              <a:rPr lang="en-US" altLang="ko-KR" b="1" dirty="0" err="1" smtClean="0"/>
              <a:t>Polizer</a:t>
            </a:r>
            <a:r>
              <a:rPr lang="ko-KR" altLang="en-US" b="1" dirty="0" smtClean="0"/>
              <a:t>씨 법에 의한 통기를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ko-KR" altLang="en-US" b="1" dirty="0" smtClean="0"/>
              <a:t>실시한 경우 </a:t>
            </a:r>
            <a:r>
              <a:rPr lang="ko-KR" altLang="en-US" b="1" dirty="0" err="1" smtClean="0"/>
              <a:t>이관부지법</a:t>
            </a:r>
            <a:r>
              <a:rPr lang="ko-KR" altLang="en-US" b="1" dirty="0" smtClean="0"/>
              <a:t> 또는 </a:t>
            </a:r>
            <a:r>
              <a:rPr lang="ko-KR" altLang="en-US" b="1" dirty="0" err="1" smtClean="0"/>
              <a:t>카테터법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자</a:t>
            </a:r>
            <a:r>
              <a:rPr lang="en-US" altLang="ko-KR" b="1" dirty="0" smtClean="0"/>
              <a:t>566)</a:t>
            </a:r>
            <a:r>
              <a:rPr lang="ko-KR" altLang="en-US" b="1" dirty="0" smtClean="0"/>
              <a:t>으로 </a:t>
            </a:r>
            <a:r>
              <a:rPr lang="ko-KR" altLang="en-US" b="1" dirty="0" err="1" smtClean="0"/>
              <a:t>행위료</a:t>
            </a:r>
            <a:r>
              <a:rPr lang="ko-KR" altLang="en-US" b="1" dirty="0" smtClean="0"/>
              <a:t> 청구 가능</a:t>
            </a:r>
            <a:r>
              <a:rPr lang="en-US" altLang="ko-KR" b="1" dirty="0" smtClean="0"/>
              <a:t>!</a:t>
            </a:r>
            <a:endParaRPr lang="ko-KR" altLang="en-US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54" y="962222"/>
            <a:ext cx="3617259" cy="3617259"/>
          </a:xfrm>
          <a:prstGeom prst="rect">
            <a:avLst/>
          </a:prstGeom>
        </p:spPr>
      </p:pic>
      <p:sp>
        <p:nvSpPr>
          <p:cNvPr id="12" name="모서리가 둥근 직사각형 11"/>
          <p:cNvSpPr/>
          <p:nvPr/>
        </p:nvSpPr>
        <p:spPr>
          <a:xfrm>
            <a:off x="301182" y="5176577"/>
            <a:ext cx="8504691" cy="1133720"/>
          </a:xfrm>
          <a:prstGeom prst="roundRect">
            <a:avLst>
              <a:gd name="adj" fmla="val 501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54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62" smtClean="0">
                <a:latin typeface="맑은 고딕" panose="020B0503020000020004" pitchFamily="50" charset="-127"/>
              </a:rPr>
              <a:t>ㅋ</a:t>
            </a:r>
            <a:endParaRPr lang="ko-KR" altLang="en-US" sz="1662" dirty="0">
              <a:latin typeface="맑은 고딕" panose="020B0503020000020004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01182" y="4761078"/>
            <a:ext cx="521780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1400" b="1" dirty="0" smtClean="0">
                <a:solidFill>
                  <a:srgbClr val="F158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타사의 비슷한 </a:t>
            </a:r>
            <a:r>
              <a:rPr lang="ko-KR" altLang="en-US" sz="1400" b="1" dirty="0" smtClean="0">
                <a:solidFill>
                  <a:srgbClr val="F158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제품과 어떻게 다르나요</a:t>
            </a:r>
            <a:r>
              <a:rPr lang="en-US" altLang="ko-KR" sz="1400" b="1" dirty="0" smtClean="0">
                <a:solidFill>
                  <a:srgbClr val="F158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en-US" altLang="ko-KR" sz="1400" b="1" dirty="0">
              <a:solidFill>
                <a:srgbClr val="F158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67354" y="5176576"/>
            <a:ext cx="8262124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1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유스타큐어는 건강보험심사평가원장으로부터 기존 행위인 </a:t>
            </a:r>
            <a:r>
              <a:rPr lang="en-US" altLang="ko-KR" sz="1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</a:t>
            </a:r>
            <a:r>
              <a:rPr lang="en-US" altLang="ko-KR" sz="1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-566 </a:t>
            </a:r>
            <a:r>
              <a:rPr lang="ko-KR" altLang="en-US" sz="1400" b="1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이관부지법</a:t>
            </a:r>
            <a:r>
              <a:rPr lang="ko-KR" altLang="en-US" sz="1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또는 </a:t>
            </a:r>
            <a:r>
              <a:rPr lang="ko-KR" altLang="en-US" sz="1400" b="1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카테터법</a:t>
            </a:r>
            <a:r>
              <a:rPr lang="en-US" altLang="ko-KR" sz="1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400" b="1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통기법</a:t>
            </a:r>
            <a:r>
              <a:rPr lang="ko-KR" altLang="en-US" sz="1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또는 </a:t>
            </a:r>
            <a:r>
              <a:rPr lang="ko-KR" altLang="en-US" sz="1400" b="1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고막맛사지</a:t>
            </a:r>
            <a:r>
              <a:rPr lang="ko-KR" altLang="en-US" sz="1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병행 포함</a:t>
            </a:r>
            <a:r>
              <a:rPr lang="en-US" altLang="ko-KR" sz="1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]’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시행 없이 </a:t>
            </a:r>
            <a:r>
              <a:rPr lang="ko-KR" altLang="en-US" sz="1400" b="1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통기법을</a:t>
            </a:r>
            <a:r>
              <a:rPr lang="ko-KR" altLang="en-US" sz="1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단독으로 실시하는 경우의 진료수가 </a:t>
            </a:r>
            <a:r>
              <a:rPr lang="ko-KR" altLang="en-US" sz="1400" b="1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산정밥법의</a:t>
            </a:r>
            <a:r>
              <a:rPr lang="ko-KR" altLang="en-US" sz="1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기존행위</a:t>
            </a:r>
            <a:r>
              <a:rPr lang="ko-KR" altLang="en-US" sz="1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범주로 인정받았습니다</a:t>
            </a:r>
            <a:r>
              <a:rPr lang="en-US" altLang="ko-KR" sz="1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b="1" u="sng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 </a:t>
            </a:r>
            <a:r>
              <a:rPr lang="ko-KR" altLang="en-US" sz="1400" b="1" u="sng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장비를 사용 시 </a:t>
            </a:r>
            <a:r>
              <a:rPr lang="ko-KR" altLang="en-US" sz="1400" b="1" u="sng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행위료가</a:t>
            </a:r>
            <a:r>
              <a:rPr lang="ko-KR" altLang="en-US" sz="1400" b="1" u="sng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u="sng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삭감 </a:t>
            </a:r>
            <a:r>
              <a:rPr lang="ko-KR" altLang="en-US" sz="1400" b="1" u="sng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될 수 있습니다</a:t>
            </a:r>
            <a:r>
              <a:rPr lang="en-US" altLang="ko-KR" sz="1400" b="1" u="sng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en-US" altLang="ko-KR" sz="1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400" b="1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7166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/>
          <p:cNvSpPr txBox="1">
            <a:spLocks/>
          </p:cNvSpPr>
          <p:nvPr/>
        </p:nvSpPr>
        <p:spPr>
          <a:xfrm>
            <a:off x="628650" y="365127"/>
            <a:ext cx="7886700" cy="6563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rgbClr val="ED7D31"/>
                </a:solidFill>
              </a:rPr>
              <a:t>02. </a:t>
            </a:r>
            <a:r>
              <a:rPr lang="ko-KR" altLang="en-US" sz="3200" dirty="0" err="1" smtClean="0"/>
              <a:t>행위료</a:t>
            </a:r>
            <a:r>
              <a:rPr lang="ko-KR" altLang="en-US" sz="3200" dirty="0" smtClean="0"/>
              <a:t> 코드</a:t>
            </a:r>
            <a:endParaRPr lang="ko-KR" altLang="en-US" sz="3200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47461"/>
              </p:ext>
            </p:extLst>
          </p:nvPr>
        </p:nvGraphicFramePr>
        <p:xfrm>
          <a:off x="1259540" y="1450788"/>
          <a:ext cx="6624920" cy="4455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56230">
                  <a:extLst>
                    <a:ext uri="{9D8B030D-6E8A-4147-A177-3AD203B41FA5}">
                      <a16:colId xmlns:a16="http://schemas.microsoft.com/office/drawing/2014/main" val="4119576095"/>
                    </a:ext>
                  </a:extLst>
                </a:gridCol>
                <a:gridCol w="1656230">
                  <a:extLst>
                    <a:ext uri="{9D8B030D-6E8A-4147-A177-3AD203B41FA5}">
                      <a16:colId xmlns:a16="http://schemas.microsoft.com/office/drawing/2014/main" val="1679328569"/>
                    </a:ext>
                  </a:extLst>
                </a:gridCol>
                <a:gridCol w="1324984">
                  <a:extLst>
                    <a:ext uri="{9D8B030D-6E8A-4147-A177-3AD203B41FA5}">
                      <a16:colId xmlns:a16="http://schemas.microsoft.com/office/drawing/2014/main" val="2850263108"/>
                    </a:ext>
                  </a:extLst>
                </a:gridCol>
                <a:gridCol w="1987476">
                  <a:extLst>
                    <a:ext uri="{9D8B030D-6E8A-4147-A177-3AD203B41FA5}">
                      <a16:colId xmlns:a16="http://schemas.microsoft.com/office/drawing/2014/main" val="3101746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보험분류번호</a:t>
                      </a:r>
                      <a:endParaRPr lang="en-US" altLang="ko-KR" sz="1200" dirty="0" smtClean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자</a:t>
                      </a:r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566</a:t>
                      </a:r>
                      <a:endParaRPr lang="ko-KR" altLang="en-US" sz="1200" b="0" dirty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EDI</a:t>
                      </a:r>
                      <a:r>
                        <a:rPr lang="en-US" altLang="ko-KR" sz="1200" b="0" baseline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코드</a:t>
                      </a:r>
                      <a:endParaRPr lang="ko-KR" altLang="en-US" sz="1200" b="0" dirty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S5660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511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행위명</a:t>
                      </a:r>
                      <a:r>
                        <a:rPr lang="en-US" altLang="ko-KR" sz="120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120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이관부지법</a:t>
                      </a:r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 또는 </a:t>
                      </a:r>
                      <a:r>
                        <a:rPr lang="ko-KR" altLang="en-US" sz="1200" b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카테터법</a:t>
                      </a:r>
                      <a:r>
                        <a:rPr lang="ko-KR" altLang="en-US" sz="1200" b="0" baseline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200" b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통기법또는고막맛사지</a:t>
                      </a:r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 병행 포함</a:t>
                      </a:r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algn="l" latinLnBrk="1"/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200" b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Politzer</a:t>
                      </a:r>
                      <a:r>
                        <a:rPr lang="ko-KR" altLang="en-US" sz="1200" b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씨법에</a:t>
                      </a:r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 의한 통기를 실시한 경우</a:t>
                      </a:r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001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행위명</a:t>
                      </a:r>
                      <a:r>
                        <a:rPr lang="en-US" altLang="ko-KR" sz="120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120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dirty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Eustachian Tube </a:t>
                      </a:r>
                      <a:r>
                        <a:rPr lang="en-US" altLang="ko-KR" sz="1200" b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Bougie</a:t>
                      </a:r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 or Catheterization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011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상대가치점수</a:t>
                      </a:r>
                      <a:endParaRPr lang="en-US" altLang="ko-KR" sz="1200" dirty="0" smtClean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161.20</a:t>
                      </a:r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점</a:t>
                      </a:r>
                      <a:endParaRPr lang="ko-KR" altLang="en-US" sz="1200" b="0" dirty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의원 </a:t>
                      </a:r>
                      <a:r>
                        <a:rPr lang="ko-KR" altLang="en-US" sz="1200" b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점수단가</a:t>
                      </a:r>
                      <a:endParaRPr lang="ko-KR" altLang="en-US" sz="1200" b="0" dirty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92.1</a:t>
                      </a:r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원</a:t>
                      </a:r>
                      <a:endParaRPr lang="en-US" altLang="ko-KR" sz="1200" b="0" dirty="0" smtClean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147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의원급</a:t>
                      </a:r>
                      <a:r>
                        <a:rPr lang="ko-KR" altLang="en-US" sz="120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가산율</a:t>
                      </a:r>
                      <a:endParaRPr lang="ko-KR" altLang="en-US" sz="1200" dirty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15%</a:t>
                      </a:r>
                      <a:endParaRPr lang="ko-KR" altLang="en-US" sz="1200" b="0" dirty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의원급</a:t>
                      </a:r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행위료</a:t>
                      </a:r>
                      <a:endParaRPr lang="en-US" altLang="ko-KR" sz="1200" b="0" dirty="0" smtClean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(161.2</a:t>
                      </a:r>
                      <a:r>
                        <a:rPr lang="en-US" altLang="ko-KR" sz="1200" b="0" baseline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 x 92.1) X 15%</a:t>
                      </a:r>
                    </a:p>
                    <a:p>
                      <a:pPr algn="ctr" latinLnBrk="1"/>
                      <a:r>
                        <a:rPr lang="en-US" altLang="ko-KR" sz="1400" b="1" baseline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= 17,073</a:t>
                      </a:r>
                      <a:r>
                        <a:rPr lang="ko-KR" altLang="en-US" sz="1400" b="1" baseline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원</a:t>
                      </a:r>
                      <a:endParaRPr lang="en-US" altLang="ko-KR" sz="1400" b="1" baseline="0" dirty="0" smtClean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71000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적응증</a:t>
                      </a:r>
                      <a:endParaRPr lang="ko-KR" altLang="en-US" sz="1200" dirty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이관인두구로부터 공기를 </a:t>
                      </a:r>
                      <a:r>
                        <a:rPr lang="ko-KR" altLang="en-US" sz="1200" b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중이강으로</a:t>
                      </a:r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 넣어서 이관의 통기기능검사 및 </a:t>
                      </a:r>
                      <a:r>
                        <a:rPr lang="ko-KR" altLang="en-US" sz="1200" b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협착된</a:t>
                      </a:r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 이관의 치료목적으로 사용된다</a:t>
                      </a:r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06263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주간의 약물치료로도 호전되지 않는 중이염</a:t>
                      </a:r>
                      <a:endParaRPr lang="en-US" altLang="ko-KR" sz="1200" b="0" dirty="0" smtClean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02576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이관환기부전증</a:t>
                      </a:r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1200" b="0" baseline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중이강무기화</a:t>
                      </a:r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200" b="0" dirty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2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인정연령</a:t>
                      </a:r>
                      <a:endParaRPr lang="en-US" altLang="ko-KR" sz="1200" dirty="0" smtClean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만 </a:t>
                      </a:r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3~10</a:t>
                      </a:r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세 소아</a:t>
                      </a:r>
                      <a:endParaRPr lang="en-US" altLang="ko-KR" sz="1200" b="0" dirty="0" smtClean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0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금기증</a:t>
                      </a:r>
                      <a:endParaRPr lang="en-US" altLang="ko-KR" sz="1200" dirty="0" smtClean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급성 중이염</a:t>
                      </a:r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급성 비</a:t>
                      </a:r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0" baseline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부비동염</a:t>
                      </a:r>
                      <a:r>
                        <a:rPr lang="en-US" altLang="ko-KR" sz="1200" b="0" baseline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baseline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급성 </a:t>
                      </a:r>
                      <a:r>
                        <a:rPr lang="ko-KR" altLang="en-US" sz="1200" b="0" baseline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인두명</a:t>
                      </a:r>
                      <a:r>
                        <a:rPr lang="en-US" altLang="ko-KR" sz="1200" b="0" baseline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baseline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거대아데노이드</a:t>
                      </a:r>
                      <a:r>
                        <a:rPr lang="ko-KR" altLang="en-US" sz="1200" b="0" baseline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baseline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증식증</a:t>
                      </a:r>
                      <a:r>
                        <a:rPr lang="en-US" altLang="ko-KR" sz="1200" b="0" baseline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l" latinLnBrk="1"/>
                      <a:r>
                        <a:rPr lang="ko-KR" altLang="en-US" sz="1200" b="0" baseline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후비공용종</a:t>
                      </a:r>
                      <a:r>
                        <a:rPr lang="en-US" altLang="ko-KR" sz="1200" b="0" baseline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 baseline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비</a:t>
                      </a:r>
                      <a:r>
                        <a:rPr lang="en-US" altLang="ko-KR" sz="1200" b="0" baseline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0" baseline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부비동</a:t>
                      </a:r>
                      <a:r>
                        <a:rPr lang="ko-KR" altLang="en-US" sz="1200" b="0" baseline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baseline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종양동</a:t>
                      </a:r>
                      <a:r>
                        <a:rPr lang="ko-KR" altLang="en-US" sz="1200" b="0" baseline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 등</a:t>
                      </a:r>
                      <a:endParaRPr lang="en-US" altLang="ko-KR" sz="1200" b="0" dirty="0" smtClean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91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실시횟수</a:t>
                      </a:r>
                      <a:endParaRPr lang="en-US" altLang="ko-KR" sz="1200" dirty="0" smtClean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err="1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실시횟수</a:t>
                      </a:r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기간 제한 없음</a:t>
                      </a:r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고시 제</a:t>
                      </a:r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2019-131</a:t>
                      </a:r>
                      <a:r>
                        <a:rPr lang="ko-KR" altLang="en-US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호</a:t>
                      </a:r>
                      <a:r>
                        <a:rPr lang="en-US" altLang="ko-KR" sz="1200" b="0" dirty="0" smtClean="0">
                          <a:solidFill>
                            <a:srgbClr val="383938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1200" b="0" dirty="0" smtClean="0">
                        <a:solidFill>
                          <a:srgbClr val="383938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634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10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모서리가 둥근 직사각형 31"/>
          <p:cNvSpPr/>
          <p:nvPr/>
        </p:nvSpPr>
        <p:spPr>
          <a:xfrm>
            <a:off x="521924" y="1237800"/>
            <a:ext cx="2217440" cy="42873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D7D31"/>
              </a:gs>
              <a:gs pos="100000">
                <a:srgbClr val="CA5B1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 dirty="0">
              <a:latin typeface="맑은 고딕" panose="020B0503020000020004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886690" y="1285697"/>
            <a:ext cx="14879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사용방법</a:t>
            </a: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628650" y="365127"/>
            <a:ext cx="7886700" cy="6563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rgbClr val="ED7D31"/>
                </a:solidFill>
              </a:rPr>
              <a:t>03. </a:t>
            </a:r>
            <a:r>
              <a:rPr lang="ko-KR" altLang="en-US" sz="3200" dirty="0" smtClean="0"/>
              <a:t>제품소개</a:t>
            </a:r>
            <a:endParaRPr lang="ko-KR" altLang="en-US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151" y="864856"/>
            <a:ext cx="1348103" cy="127998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6" t="593" r="18923" b="-593"/>
          <a:stretch/>
        </p:blipFill>
        <p:spPr>
          <a:xfrm>
            <a:off x="6645806" y="3179400"/>
            <a:ext cx="2017817" cy="209923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41" r="18620"/>
          <a:stretch/>
        </p:blipFill>
        <p:spPr>
          <a:xfrm>
            <a:off x="6647364" y="1077107"/>
            <a:ext cx="2016259" cy="210229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55286" y="1714427"/>
            <a:ext cx="6322032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158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</a:t>
            </a:r>
            <a:r>
              <a:rPr lang="en-US" altLang="ko-KR" sz="1400" b="1" dirty="0">
                <a:solidFill>
                  <a:srgbClr val="F158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b="1" dirty="0">
                <a:solidFill>
                  <a:srgbClr val="F158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 전 준비사항</a:t>
            </a:r>
          </a:p>
          <a:p>
            <a:pPr marL="316531" indent="-316531">
              <a:lnSpc>
                <a:spcPct val="150000"/>
              </a:lnSpc>
              <a:buAutoNum type="arabicParenR"/>
            </a:pP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제품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표면에 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청결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상태를 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확인합니다</a:t>
            </a: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pPr marL="316531" indent="-316531">
              <a:lnSpc>
                <a:spcPct val="150000"/>
              </a:lnSpc>
              <a:buAutoNum type="arabicParenR"/>
            </a:pPr>
            <a:r>
              <a:rPr lang="ko-KR" alt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유스타큐어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노즈피스에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일회용 팁을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끼우고 팁 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하단이</a:t>
            </a: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본체에</a:t>
            </a: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/>
            </a:r>
            <a:b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</a:b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닿을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때까지 눌러줍니다</a:t>
            </a: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en-US" altLang="ko-KR" sz="1400" b="1" dirty="0">
              <a:solidFill>
                <a:srgbClr val="F158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158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</a:t>
            </a:r>
            <a:r>
              <a:rPr lang="en-US" altLang="ko-KR" sz="1400" b="1" dirty="0">
                <a:solidFill>
                  <a:srgbClr val="F158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b="1" dirty="0">
                <a:solidFill>
                  <a:srgbClr val="F158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사용방법 및 </a:t>
            </a:r>
            <a:r>
              <a:rPr lang="ko-KR" altLang="en-US" sz="1400" b="1" dirty="0" smtClean="0">
                <a:solidFill>
                  <a:srgbClr val="F158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조작 방법</a:t>
            </a:r>
            <a:endParaRPr lang="ko-KR" altLang="en-US" sz="1400" b="1" dirty="0">
              <a:solidFill>
                <a:srgbClr val="F158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준비된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제품의 </a:t>
            </a:r>
            <a:r>
              <a:rPr lang="ko-KR" alt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노즈피스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부분을 한쪽 콧구멍에 고정합니다</a:t>
            </a: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반대쪽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손 검지로 나머지 한쪽 콧구멍을 눌러서 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막아줍니다</a:t>
            </a: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양쪽 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콧구멍을 틈새가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없도록 확실하게 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막아줍니다</a:t>
            </a: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en-US" altLang="ko-KR" sz="1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제품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중앙의 전원 버튼을 눌러 공기가 </a:t>
            </a:r>
            <a:r>
              <a:rPr lang="ko-KR" alt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콧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속으로 주입되게 합니다</a:t>
            </a: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2~3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초 후에 입을 다물고 침을 삼킵니다</a:t>
            </a: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약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분 정도 휴식한 후 반대 쪽 콧구멍에도 동일하게 반복합니다</a:t>
            </a: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사용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후 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일회용 팁의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하단 테두리를 잡고 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위로 잡아당겨 빼주세요</a:t>
            </a: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 smtClean="0">
                <a:solidFill>
                  <a:srgbClr val="F158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1400" b="1" dirty="0">
                <a:solidFill>
                  <a:srgbClr val="F158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b="1" dirty="0">
                <a:solidFill>
                  <a:srgbClr val="F158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 후 보관방법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유스타큐어의 </a:t>
            </a:r>
            <a:r>
              <a:rPr lang="ko-KR" altLang="en-US" sz="1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노즈피스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부분을 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알코올로 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세척한 뒤 보관해주세요</a:t>
            </a:r>
            <a:r>
              <a:rPr lang="en-US" altLang="ko-KR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사용한 팁은 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각 의료기관의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정해진 </a:t>
            </a:r>
            <a:r>
              <a:rPr lang="ko-KR" alt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방법에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따라 폐기해주세요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en-US" altLang="ko-KR" sz="1400" b="1" dirty="0">
              <a:solidFill>
                <a:srgbClr val="F15822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715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사용자 지정 1">
      <a:dk1>
        <a:srgbClr val="3A3838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8007</TotalTime>
  <Words>235</Words>
  <Application>Microsoft Office PowerPoint</Application>
  <PresentationFormat>화면 슬라이드 쇼(4:3)</PresentationFormat>
  <Paragraphs>59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나눔고딕</vt:lpstr>
      <vt:lpstr>맑은 고딕</vt:lpstr>
      <vt:lpstr>Arial</vt:lpstr>
      <vt:lpstr>Calibri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김나연</dc:creator>
  <cp:lastModifiedBy>Wee So Kim</cp:lastModifiedBy>
  <cp:revision>727</cp:revision>
  <cp:lastPrinted>2023-09-06T12:14:21Z</cp:lastPrinted>
  <dcterms:created xsi:type="dcterms:W3CDTF">2021-05-18T06:57:18Z</dcterms:created>
  <dcterms:modified xsi:type="dcterms:W3CDTF">2023-09-07T02:40:34Z</dcterms:modified>
</cp:coreProperties>
</file>